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C300"/>
                </a:solidFill>
                <a:latin typeface="Calibri"/>
              </a:rPr>
              <a:t>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853"/>
                </a:solidFill>
                <a:latin typeface="Calibri"/>
              </a:rPr>
              <a:t>AgroNex-Pi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Autonomous Smart Agricultural 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Edge-AI disease detection  ·  GPS navigation  ·  Smart irrigation  ·  AWS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474720"/>
            <a:ext cx="5577840" cy="54864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E8FF"/>
                </a:solidFill>
                <a:latin typeface="Calibri"/>
              </a:rPr>
              <a:t>Department of Electronics / Computer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300"/>
                </a:solidFill>
                <a:latin typeface="Calibri"/>
              </a:rPr>
              <a:t>Academic Year 2025–26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E8FF"/>
                </a:solidFill>
                <a:latin typeface="Calibri"/>
              </a:rPr>
              <a:t>Team: Nikhil &amp; members          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1.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2.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3. SDGs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4. Literature &amp;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5.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6.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7.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8. 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9. Hardware–software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10. Dataset (our photos)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11. Model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12. Testing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13.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14. Applications &amp;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15. 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16. References, thanks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One-page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Low-cost rover on Raspberry Pi 4 + Arduino Uno slave.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Does 5 jobs: irrigate, mow, GPS navigate, detect leaf disease, send cloud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AI runs on the Pi (TFLite MobileNetV2) — no internet needed for diagnosis.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We trained on PlantVillage + our own local-plant photos.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Safety: pump, cutter and drive motors never run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Why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FAO: plant disease wastes about 10-40% of world crop yield.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Small farms cannot hire agronomists or irrigate by hand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Flood irrigation wastes water; cloud apps fail without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AgroNex-Pi: one cheap robot that waters, mows, drives and scans leaves.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Farmer sees live data on phone / laptop (local Flask or AWS).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What we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Build a low-cost rover that waters, mows, drives and scans plants.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Detect leaf disease on the Pi (offline) using our own photos.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Water only when soil is dry (save water vs timer irrigation).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Show live sensors on a local dashboard and optional AWS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Keep pump, cutter and motors from running at the same time (safety).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Sustainable Development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UN Agenda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2286000"/>
          </a:xfrm>
          <a:prstGeom prst="roundRect">
            <a:avLst/>
          </a:prstGeom>
          <a:solidFill>
            <a:srgbClr val="122C44"/>
          </a:solidFill>
          <a:ln w="15875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300"/>
                </a:solidFill>
                <a:latin typeface="Calibri"/>
              </a:rPr>
              <a:t>SDG 2  Zero Hunger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Early disease catch + smart watering protects yield.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623560" cy="2286000"/>
          </a:xfrm>
          <a:prstGeom prst="roundRect">
            <a:avLst/>
          </a:prstGeom>
          <a:solidFill>
            <a:srgbClr val="122C44"/>
          </a:solidFill>
          <a:ln w="15875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300"/>
                </a:solidFill>
                <a:latin typeface="Calibri"/>
              </a:rPr>
              <a:t>SDG 6  Clean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Pump ON only if soil &lt; 35%. Saves water vs timers.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5623560" cy="2286000"/>
          </a:xfrm>
          <a:prstGeom prst="roundRect">
            <a:avLst/>
          </a:prstGeom>
          <a:solidFill>
            <a:srgbClr val="122C44"/>
          </a:solidFill>
          <a:ln w="15875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300"/>
                </a:solidFill>
                <a:latin typeface="Calibri"/>
              </a:rPr>
              <a:t>SDG 9 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Edge AI + IoT robot that small farms can afford.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623560" cy="2286000"/>
          </a:xfrm>
          <a:prstGeom prst="roundRect">
            <a:avLst/>
          </a:prstGeom>
          <a:solidFill>
            <a:srgbClr val="122C44"/>
          </a:solidFill>
          <a:ln w="15875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300"/>
                </a:solidFill>
                <a:latin typeface="Calibri"/>
              </a:rPr>
              <a:t>SDG 12  Responsible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634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Less chemical spray; treat only if AI confirms disease.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What others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214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003"/>
                <a:gridCol w="4147718"/>
                <a:gridCol w="414771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Work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Mohanty 2016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CNN on PlantVillage (~99% lab)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Lab photos, no robot, often cloud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Bac 2014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Greenhouse harvest robot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Costly, needs structured farm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Plantix / PlantSnap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Phone app diagnosis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Needs internet every time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IoT irrigation papers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Soil sensor + pump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No AI, no navigation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GPS agri robots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Field waypoint driving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No disease + irrigation combo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Gap analysis  →  our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Gap: irrigation, mowing, GPS and AI are usually separate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Gap: lab datasets look unlike a Pi camera in a real garden.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Gap: rural farms have weak internet — cloud-only AI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We combine all 5 jobs on one chassis.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03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We photographed local plants with the same rover camera, then trained.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43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Inference stays on-device; cloud is only for remote viewing.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Components — brain &amp;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08</a:t>
            </a:r>
          </a:p>
        </p:txBody>
      </p:sp>
      <p:pic>
        <p:nvPicPr>
          <p:cNvPr id="6" name="Picture 5" descr="comp_r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51560"/>
            <a:ext cx="2820924" cy="1856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" y="2926080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Raspberry Pi 4B</a:t>
            </a:r>
          </a:p>
        </p:txBody>
      </p:sp>
      <p:pic>
        <p:nvPicPr>
          <p:cNvPr id="8" name="Picture 7" descr="comp_ardui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684" y="1051560"/>
            <a:ext cx="2820924" cy="1856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6684" y="2926080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Arduino Uno slave</a:t>
            </a:r>
          </a:p>
        </p:txBody>
      </p:sp>
      <p:pic>
        <p:nvPicPr>
          <p:cNvPr id="10" name="Picture 9" descr="comp_came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051560"/>
            <a:ext cx="2820924" cy="1856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08776" y="2926080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OV5647 camera</a:t>
            </a:r>
          </a:p>
        </p:txBody>
      </p:sp>
      <p:pic>
        <p:nvPicPr>
          <p:cNvPr id="12" name="Picture 11" descr="comp_so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868" y="1051560"/>
            <a:ext cx="2820924" cy="1856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0868" y="2926080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Soil moisture</a:t>
            </a:r>
          </a:p>
        </p:txBody>
      </p:sp>
      <p:pic>
        <p:nvPicPr>
          <p:cNvPr id="14" name="Picture 13" descr="comp_ad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3584448"/>
            <a:ext cx="2820924" cy="1856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" y="5458968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ADS1115 ADC</a:t>
            </a:r>
          </a:p>
        </p:txBody>
      </p:sp>
      <p:pic>
        <p:nvPicPr>
          <p:cNvPr id="16" name="Picture 15" descr="comp_dh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684" y="3584448"/>
            <a:ext cx="2820924" cy="1856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86684" y="5458968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DHT11/22</a:t>
            </a:r>
          </a:p>
        </p:txBody>
      </p:sp>
      <p:pic>
        <p:nvPicPr>
          <p:cNvPr id="18" name="Picture 17" descr="comp_wat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584448"/>
            <a:ext cx="2820924" cy="1856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8776" y="5458968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Water-level probe</a:t>
            </a:r>
          </a:p>
        </p:txBody>
      </p:sp>
      <p:pic>
        <p:nvPicPr>
          <p:cNvPr id="20" name="Picture 19" descr="comp_compas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0868" y="3584448"/>
            <a:ext cx="2820924" cy="1856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0868" y="5458968"/>
            <a:ext cx="2820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HMC5883L compass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Components — drive, power,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09</a:t>
            </a:r>
          </a:p>
        </p:txBody>
      </p:sp>
      <p:pic>
        <p:nvPicPr>
          <p:cNvPr id="6" name="Picture 5" descr="comp_chas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24128"/>
            <a:ext cx="2216505" cy="1856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" y="2898648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4WD chassis</a:t>
            </a:r>
          </a:p>
        </p:txBody>
      </p:sp>
      <p:pic>
        <p:nvPicPr>
          <p:cNvPr id="8" name="Picture 7" descr="comp_b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65" y="1024128"/>
            <a:ext cx="2216505" cy="1856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2265" y="2898648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BTS7960 ×2</a:t>
            </a:r>
          </a:p>
        </p:txBody>
      </p:sp>
      <p:pic>
        <p:nvPicPr>
          <p:cNvPr id="10" name="Picture 9" descr="comp_g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1024128"/>
            <a:ext cx="2216505" cy="1856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99939" y="2898648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NEO-7M GPS</a:t>
            </a:r>
          </a:p>
        </p:txBody>
      </p:sp>
      <p:pic>
        <p:nvPicPr>
          <p:cNvPr id="12" name="Picture 11" descr="comp_re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612" y="1024128"/>
            <a:ext cx="2216505" cy="1856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7612" y="2898648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2-ch relay</a:t>
            </a:r>
          </a:p>
        </p:txBody>
      </p:sp>
      <p:pic>
        <p:nvPicPr>
          <p:cNvPr id="14" name="Picture 13" descr="comp_pum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286" y="1024128"/>
            <a:ext cx="2216505" cy="1856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35286" y="2898648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5 V pump</a:t>
            </a:r>
          </a:p>
        </p:txBody>
      </p:sp>
      <p:pic>
        <p:nvPicPr>
          <p:cNvPr id="16" name="Picture 15" descr="comp_cutt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" y="3557016"/>
            <a:ext cx="2216505" cy="1856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2" y="5431536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12 V cutter</a:t>
            </a:r>
          </a:p>
        </p:txBody>
      </p:sp>
      <p:pic>
        <p:nvPicPr>
          <p:cNvPr id="18" name="Picture 17" descr="comp_buc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2265" y="3557016"/>
            <a:ext cx="2216505" cy="1856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82265" y="5431536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LM2596 5 V</a:t>
            </a:r>
          </a:p>
        </p:txBody>
      </p:sp>
      <p:pic>
        <p:nvPicPr>
          <p:cNvPr id="20" name="Picture 19" descr="comp_battery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9939" y="3557016"/>
            <a:ext cx="2216505" cy="1856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99939" y="5431536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12 V battery</a:t>
            </a:r>
          </a:p>
        </p:txBody>
      </p:sp>
      <p:pic>
        <p:nvPicPr>
          <p:cNvPr id="22" name="Picture 21" descr="comp_ultr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7612" y="3557016"/>
            <a:ext cx="2216505" cy="18562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17612" y="5431536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HC-SR04 ×2</a:t>
            </a:r>
          </a:p>
        </p:txBody>
      </p:sp>
      <p:pic>
        <p:nvPicPr>
          <p:cNvPr id="24" name="Picture 23" descr="comp_alert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5286" y="3557016"/>
            <a:ext cx="2216505" cy="18562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35286" y="5431536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Buzzer + 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System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3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003"/>
                <a:gridCol w="829543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Pi 4B 4 GB + Arduino Uno R3 (USB 115200)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Python 3.9, 9 modules, 4 threads, FSM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AI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MobileNetV2 → TFLite, 224×224, ~280 ms / frame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Irrigation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ON &lt; 35%, OFF ≥ 65%, 60 s max, 120 s cooldown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Disease gates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Blur + green % + 70% confidence + 3×3 vote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Navigation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NEO-7M + compass, arrive within 2.5 m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Cloud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AWS API Gateway + Lambda + S3 every 5 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Power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12 V battery, LM2596 5 V rail, common ground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System architecture (block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11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Software layers (short)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hardware.py — only file that touches GPIO / I²C / UART / camera.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Controllers: irrigation, cutter, navigation, disease_detect.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main.py FSM: BOOT → SELF_TEST → IDLE → MONITORING → action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Threads: 3 s control loop, scanner, Flask :5000, 30 s watchdog.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03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aws_relay.py + S3 dashboard for remote view / commands.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43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SAFE_STATE if self-test fails: all actuators 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System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13</a:t>
            </a:r>
          </a:p>
        </p:txBody>
      </p:sp>
      <p:pic>
        <p:nvPicPr>
          <p:cNvPr id="6" name="Picture 5" descr="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7552"/>
            <a:ext cx="11704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Formal operational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13b</a:t>
            </a:r>
          </a:p>
        </p:txBody>
      </p:sp>
      <p:pic>
        <p:nvPicPr>
          <p:cNvPr id="6" name="Picture 5" descr="flowchart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7552"/>
            <a:ext cx="11704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Hardware &amp; software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14</a:t>
            </a:r>
          </a:p>
        </p:txBody>
      </p:sp>
      <p:pic>
        <p:nvPicPr>
          <p:cNvPr id="6" name="Picture 5" descr="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7552"/>
            <a:ext cx="11704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Integration — how parts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Sensors: I²C (soil, water, compass), UART GPS, CSI camera, 1-wire DHT.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01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Arduino: motors, probe servo, ultrasonics — Pi sends short serial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5973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Relays active-LOW; pins set HIGH before OUTPUT so pump/cutter stay off at boot.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1810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Interlock: stop wheels before pump or cutter (protects 12 V rail).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764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Cloud POST every 5 s; if Wi-Fi dies, local dashboard still works.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Building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We photographed local plants ourselves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16</a:t>
            </a:r>
          </a:p>
        </p:txBody>
      </p:sp>
      <p:pic>
        <p:nvPicPr>
          <p:cNvPr id="7" name="Picture 6" descr="dataset_pro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4348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Problem: Kaggle lab photos ≠ Pi camera (blur, noise, real background).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737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Fix: capture with the same OV5647 on the rover (capture_field_dataset.py).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31266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Classes: healthy / unhealthy / yellow / dried / not-a-leaf.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Our local classes (field photos)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17</a:t>
            </a:r>
          </a:p>
        </p:txBody>
      </p:sp>
      <p:pic>
        <p:nvPicPr>
          <p:cNvPr id="6" name="Picture 5" descr="leaf_healt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188720"/>
            <a:ext cx="2216505" cy="3913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" y="5120640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Local_healthy</a:t>
            </a:r>
          </a:p>
        </p:txBody>
      </p:sp>
      <p:pic>
        <p:nvPicPr>
          <p:cNvPr id="8" name="Picture 7" descr="leaf_unhealt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65" y="1188720"/>
            <a:ext cx="2216505" cy="3913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2265" y="5120640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Local_unhealthy</a:t>
            </a:r>
          </a:p>
        </p:txBody>
      </p:sp>
      <p:pic>
        <p:nvPicPr>
          <p:cNvPr id="10" name="Picture 9" descr="leaf_yell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1188720"/>
            <a:ext cx="2216505" cy="39136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99939" y="5120640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Local_yellow</a:t>
            </a:r>
          </a:p>
        </p:txBody>
      </p:sp>
      <p:pic>
        <p:nvPicPr>
          <p:cNvPr id="12" name="Picture 11" descr="leaf_dri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612" y="1188720"/>
            <a:ext cx="2216505" cy="39136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7612" y="5120640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Local_dried</a:t>
            </a:r>
          </a:p>
        </p:txBody>
      </p:sp>
      <p:pic>
        <p:nvPicPr>
          <p:cNvPr id="14" name="Picture 13" descr="leaf_b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286" y="1188720"/>
            <a:ext cx="2216505" cy="39136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35286" y="5120640"/>
            <a:ext cx="22165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background_not_a_leaf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Dataset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What we actually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Source A: PlantVillage (Kaggle) — tomato, potato, bell pepper, max 180 /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Source B: our garden / campus plants with Pi camera at rover height.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Angles: top, 15–30° tilt, 5–15 cm close-up. Sun + indoor 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Also shoot pots/soil/hands so the model learns “this is not a leaf”.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576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Split: 80% train / 20% validation. Field images not capped.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97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Folders merge into training_subset/ before training.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Building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4E3B"/>
                </a:solidFill>
                <a:latin typeface="Calibri"/>
              </a:rPr>
              <a:t>Transfer learning — short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Start from MobileNetV2 already trained on ImageNet (knows edges, colors).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Remove old 1000-class head. Add GAP + Dropout 0.3 + Softmax(N classes).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14015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Stage 1: freeze backbone, train head (Adam, LR 1e-3).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72383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Stage 2: unfreeze top layers, tiny LR (1e-4 / 1e-5) — fine-tune.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30751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0E8FF"/>
                </a:solidFill>
                <a:latin typeface="Calibri"/>
              </a:rPr>
              <a:t>●  Export quantized TFLite (~small file) to models/plant_model.tflite.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ML techniques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003"/>
                <a:gridCol w="829543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Why we used it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Transfer learning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Few local photos; ImageNet already learned vision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Data augmentation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Flip, rotate, zoom, brightness — more variety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Class weights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Rare disease class is not ignored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Dropout 0.3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Stops memorizing training photos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Early stopping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Stop when validation stops improving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Dynamic-range quantize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Faster, smaller model for Pi CPU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[-1, 1] normalize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Matches MobileNetV2 training math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5-gate inference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Cuts false alarms in the garden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On-device inference (5 gates)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1. Quality: too blurry or too dark → RETAKE, not “disease”.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2. Green pixels: &lt; 15% green → skip (no leaf in view).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3. Split photo into 3×3 patches; classify each 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4. Vote: more than 4 of 9 patches must be diseased.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5. Confidence: each diseased patch needs ≥ 70% softmax.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97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Then: knowledge-base advice + buzzer/LED + save JPEG.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Testing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Hardware scripts: soil, water, DHT, relay, motors, camera, alerts — all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Soil dry-air ADC ~26 300 → 0%; wet ~9 500 → ~100%.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4086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Pump starts &lt; 35%, stops ≥ 65% or after 60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6265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GPS: stop-and-check bursts; waypoint done at ≤ 2.5 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844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AI: val. accuracy typically ~88–95% after local photos (vs ~40–50% domain shift).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06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8FF"/>
                </a:solidFill>
                <a:latin typeface="Calibri"/>
              </a:rPr>
              <a:t>●  Pi inference ~280 ms/frame. Interlocks verified (no dual high-current loads).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ML results (what to say in viva)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003"/>
                <a:gridCol w="829543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B1F17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Custom 5-class (local plant)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Validation about 88–93%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PlantVillage 8-class mix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Validation about 91–95%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False-alarm control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Blur/green/vote/70% gates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Latency on Pi 4 CPU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~280 ms per frame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Model file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Quantized .tflite + labels.txt</a:t>
                      </a:r>
                    </a:p>
                  </a:txBody>
                  <a:tcPr>
                    <a:solidFill>
                      <a:srgbClr val="12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Real camera test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0E8FF"/>
                          </a:solidFill>
                        </a:rPr>
                        <a:t>test_disease_camera.py live demo</a:t>
                      </a:r>
                    </a:p>
                  </a:txBody>
                  <a:tcPr>
                    <a:solidFill>
                      <a:srgbClr val="1634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Dashboard — local Flask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24</a:t>
            </a:r>
          </a:p>
        </p:txBody>
      </p:sp>
      <p:pic>
        <p:nvPicPr>
          <p:cNvPr id="6" name="Picture 5" descr="dash_lo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Dashboard — AWS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25</a:t>
            </a:r>
          </a:p>
        </p:txBody>
      </p:sp>
      <p:pic>
        <p:nvPicPr>
          <p:cNvPr id="6" name="Picture 5" descr="dash_clo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Dashboard — farm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26</a:t>
            </a:r>
          </a:p>
        </p:txBody>
      </p:sp>
      <p:pic>
        <p:nvPicPr>
          <p:cNvPr id="6" name="Picture 5" descr="dash_f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Dashboard — disease capture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27</a:t>
            </a:r>
          </a:p>
        </p:txBody>
      </p:sp>
      <p:pic>
        <p:nvPicPr>
          <p:cNvPr id="6" name="Picture 5" descr="dash_disease_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Dashboard — 3x3 disease vote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28</a:t>
            </a:r>
          </a:p>
        </p:txBody>
      </p:sp>
      <p:pic>
        <p:nvPicPr>
          <p:cNvPr id="6" name="Picture 5" descr="dash_dise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Small farms (1–5 acre): auto water + leaf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56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Home / terrace gardens: mow + phone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946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Nurseries: catch disease early, less chemical spray.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8269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Colleges: teaching IoT, robotics and edge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959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Off-grid: local Flask works even without internet.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Better obstacle sense (ultrasonic already started) + wheel encoders.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56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Solar + battery monitor for full off-grid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946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YOLO to find the leaf first, then classify disease.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8269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More local crops; rain-aware watering; phone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959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F"/>
                </a:solidFill>
                <a:latin typeface="Calibri"/>
              </a:rPr>
              <a:t>●  INT8 / Coral TPU for faster AI.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One affordable rover does irrigation, mowing, GPS and edge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01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Local photos + transfer learning solved the “lab vs field camera”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5973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Safety interlocks and FSM keep high-current parts under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1810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Cloud dashboard is extra; core farming still works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764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Shows that smart farming is possible without expensive machinery.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[1] FAO, The State of Food and Agriculture,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[2] Sandler et al., MobileNetV2, IEEE CVPR, 2018.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[3] Mohanty et al., DL plant disease, Front. Plant Sci.,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[4] Bac et al., Harvesting robots, J. Field Robot., 2014.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0895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[5] Khanna &amp; Kaur, IoT in precision agriculture, 2019.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1187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[6] TensorFlow Lite guide; Raspberry Pi 4 datasheet.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79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[7] PlantVillage / Kaggle plantdisease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1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  <a:latin typeface="Calibri"/>
              </a:rPr>
              <a:t>●  [8] TI ADS1115 datasheet; Honeywell HMC5883L datasheet.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17"/>
                </a:solidFill>
                <a:latin typeface="Calibri"/>
              </a:rPr>
              <a:t>Acknowledgement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1F17"/>
                </a:solidFill>
                <a:latin typeface="Calibri"/>
              </a:rPr>
              <a:t>AgroNex-Pi  |  Autonomous Smart Agricultural Robot  | 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Project guide [Name] — guidance and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HOD and department — lab, tools, and time on the rover.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Institute — workspace and academic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Families — patience during build and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  <a:latin typeface="Calibri"/>
              </a:rPr>
              <a:t>●  Open source: TensorFlow, Raspberry Pi, PlantVillage, Python.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C853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Questions are 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657600"/>
            <a:ext cx="3749039" cy="54864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AgroNex-Pi  ·  Edge-AI  ·  IoT  ·  Robotics  · 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300"/>
                </a:solidFill>
                <a:latin typeface="Calibri"/>
              </a:rPr>
              <a:t>Raspberry Pi 4  |  Arduino  |  TensorFlow Lite  |  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